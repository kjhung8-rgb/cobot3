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Jackal 동작 노드 아키텍처 요약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cobot3_test 분석 기준: Isaac Sim + ROS 2 + Nav2 + Spot 탐색/YOLO 연동</a:t>
            </a:r>
            <a:endParaRPr lang="ko-KR" sz="1300"/>
          </a:p>
        </p:txBody>
      </p:sp>
      <p:sp>
        <p:nvSpPr>
          <p:cNvPr id="10" name="hero"/>
          <p:cNvSpPr/>
          <p:nvPr/>
        </p:nvSpPr>
        <p:spPr>
          <a:xfrm>
            <a:off x="685800" y="1417320"/>
            <a:ext cx="1078992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2800" b="1">
                <a:solidFill>
                  <a:srgbClr val="0F172A"/>
                </a:solidFill>
              </a:rPr>
              <a:t>Spot이 탐색하고 /map·생존자 좌표를 만들면</a:t>
            </a:r>
            <a:endParaRPr lang="ko-KR" sz="2800"/>
          </a:p>
          <a:p>
            <a:pPr algn="ctr"/>
            <a:r>
              <a:rPr lang="ko-KR" sz="2800" b="1">
                <a:solidFill>
                  <a:srgbClr val="0F172A"/>
                </a:solidFill>
              </a:rPr>
              <a:t>Jackal은 /jackal_0 네임스페이스에서 구조 미션을 수행</a:t>
            </a:r>
            <a:endParaRPr lang="ko-KR" sz="2800"/>
          </a:p>
        </p:txBody>
      </p:sp>
      <p:sp>
        <p:nvSpPr>
          <p:cNvPr id="11" name="meta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800" b="1">
                <a:solidFill>
                  <a:srgbClr val="0F172A"/>
                </a:solidFill>
              </a:rPr>
              <a:t>핵심 실행: ros2 launch cobot_perception jackal_full.launch.py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워크스페이스에서 확인한 Jackal 관련 구성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Jackal 동작은 Isaac extension graph와 ROS launch/params가 나뉘어 구성됩니다.</a:t>
            </a:r>
            <a:endParaRPr lang="ko-KR" sz="1300"/>
          </a:p>
        </p:txBody>
      </p:sp>
      <p:sp>
        <p:nvSpPr>
          <p:cNvPr id="10" name="bullets"/>
          <p:cNvSpPr txBox="1"/>
          <p:nvPr/>
        </p:nvSpPr>
        <p:spPr>
          <a:xfrm>
            <a:off x="640080" y="1325880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0284C7"/>
                </a:solidFill>
              </a:rPr>
              <a:t>Isaac Sim extension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/World/Jackal spawn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cmd_vel OmniGraph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odom + TF graph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LiDAR LaserScan graph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4343400" y="1325880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16A34A"/>
                </a:solidFill>
              </a:rPr>
              <a:t>ROS launch stack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jackal_full.launch.py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jackal_localize.launch.py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jackal_navigate.launch.py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spot_explore.launch.py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8046720" y="1325880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DC2626"/>
                </a:solidFill>
              </a:rPr>
              <a:t>주요 패키지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cobot_perception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cobot3_navigation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cobot_core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yolo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jackal_full.launch.py 실행 순서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TimerAction으로 TF, Spot 탐색, Jackal Nav2를 단계적으로 올립니다.</a:t>
            </a:r>
            <a:endParaRPr lang="ko-KR" sz="1300"/>
          </a:p>
        </p:txBody>
      </p:sp>
      <p:sp>
        <p:nvSpPr>
          <p:cNvPr id="20" name="jackal_localize"/>
          <p:cNvSpPr/>
          <p:nvPr/>
        </p:nvSpPr>
        <p:spPr>
          <a:xfrm>
            <a:off x="777240" y="182880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00" b="1">
                <a:solidFill>
                  <a:srgbClr val="0F172A"/>
                </a:solidFill>
              </a:rPr>
              <a:t>T+1s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jackal_localize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map → jackal_0/odom 정적 TF</a:t>
            </a:r>
            <a:endParaRPr lang="ko-KR" sz="1600"/>
          </a:p>
        </p:txBody>
      </p:sp>
      <p:cxnSp>
        <p:nvCxnSpPr>
          <p:cNvPr id="30" name="arrow"/>
          <p:cNvCxnSpPr/>
          <p:nvPr/>
        </p:nvCxnSpPr>
        <p:spPr>
          <a:xfrm>
            <a:off x="3657600" y="2487168"/>
            <a:ext cx="868679" cy="0"/>
          </a:xfrm>
          <a:prstGeom prst="line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21" name="spot_explore"/>
          <p:cNvSpPr/>
          <p:nvPr/>
        </p:nvSpPr>
        <p:spPr>
          <a:xfrm>
            <a:off x="4526279" y="182880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00" b="1">
                <a:solidFill>
                  <a:srgbClr val="0F172A"/>
                </a:solidFill>
              </a:rPr>
              <a:t>T+3s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spot_explore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SLAM, Spot Nav2, coverage, YOLO</a:t>
            </a:r>
            <a:endParaRPr lang="ko-KR" sz="1600"/>
          </a:p>
        </p:txBody>
      </p:sp>
      <p:cxnSp>
        <p:nvCxnSpPr>
          <p:cNvPr id="31" name="arrow"/>
          <p:cNvCxnSpPr/>
          <p:nvPr/>
        </p:nvCxnSpPr>
        <p:spPr>
          <a:xfrm>
            <a:off x="7406640" y="2487168"/>
            <a:ext cx="868679" cy="0"/>
          </a:xfrm>
          <a:prstGeom prst="line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22" name="jackal_navigate"/>
          <p:cNvSpPr/>
          <p:nvPr/>
        </p:nvSpPr>
        <p:spPr>
          <a:xfrm>
            <a:off x="8275319" y="182880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00" b="1">
                <a:solidFill>
                  <a:srgbClr val="0F172A"/>
                </a:solidFill>
              </a:rPr>
              <a:t>T+23s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jackal_navigate</a:t>
            </a:r>
            <a:endParaRPr lang="ko-KR" sz="1600"/>
          </a:p>
          <a:p>
            <a:pPr algn="ctr"/>
            <a:r>
              <a:rPr lang="ko-KR" sz="1600" b="1">
                <a:solidFill>
                  <a:srgbClr val="0F172A"/>
                </a:solidFill>
              </a:rPr>
              <a:t>/jackal_0 Nav2 + mission_manager</a:t>
            </a:r>
            <a:endParaRPr lang="ko-KR" sz="1600"/>
          </a:p>
        </p:txBody>
      </p:sp>
      <p:sp>
        <p:nvSpPr>
          <p:cNvPr id="40" name="note"/>
          <p:cNvSpPr txBox="1"/>
          <p:nvPr/>
        </p:nvSpPr>
        <p:spPr>
          <a:xfrm>
            <a:off x="914400" y="416052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700" b="0">
                <a:solidFill>
                  <a:srgbClr val="334155"/>
                </a:solidFill>
              </a:rPr>
              <a:t>이 순서의 목적: Jackal TF를 먼저 고정해 Spot SLAM이 Jackal을 정적 장애물로 지도에 굳히는 시간을 줄이고, Spot Nav2 활성화 후 Jackal lifecycle을 시작합니다.</a:t>
            </a:r>
            <a:endParaRPr lang="ko-KR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Isaac Sim 쪽 ROS Graph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시뮬레이터가 Jackal의 구동 입력, odom/TF, LiDAR를 ROS 2로 연결합니다.</a:t>
            </a:r>
            <a:endParaRPr lang="ko-KR" sz="1300"/>
          </a:p>
        </p:txBody>
      </p:sp>
      <p:sp>
        <p:nvSpPr>
          <p:cNvPr id="50" name="box"/>
          <p:cNvSpPr/>
          <p:nvPr/>
        </p:nvSpPr>
        <p:spPr>
          <a:xfrm>
            <a:off x="685800" y="1554480"/>
            <a:ext cx="224028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Nav2/Relay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/jackal_0/cmd_vel</a:t>
            </a:r>
            <a:endParaRPr lang="ko-KR" sz="1400"/>
          </a:p>
        </p:txBody>
      </p:sp>
      <p:cxnSp>
        <p:nvCxnSpPr>
          <p:cNvPr id="60" name="arr"/>
          <p:cNvCxnSpPr/>
          <p:nvPr/>
        </p:nvCxnSpPr>
        <p:spPr>
          <a:xfrm>
            <a:off x="2926080" y="2029968"/>
            <a:ext cx="548639" cy="0"/>
          </a:xfrm>
          <a:prstGeom prst="line">
            <a:avLst/>
          </a:prstGeom>
          <a:ln w="25400">
            <a:solidFill>
              <a:srgbClr val="0F766E"/>
            </a:solidFill>
            <a:headEnd type="triangle"/>
          </a:ln>
        </p:spPr>
      </p:cxnSp>
      <p:sp>
        <p:nvSpPr>
          <p:cNvPr id="51" name="box"/>
          <p:cNvSpPr/>
          <p:nvPr/>
        </p:nvSpPr>
        <p:spPr>
          <a:xfrm>
            <a:off x="3474720" y="1554480"/>
            <a:ext cx="224028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SubscribeTwist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linear.x + angular.z</a:t>
            </a:r>
            <a:endParaRPr lang="ko-KR" sz="1400"/>
          </a:p>
        </p:txBody>
      </p:sp>
      <p:cxnSp>
        <p:nvCxnSpPr>
          <p:cNvPr id="61" name="arr"/>
          <p:cNvCxnSpPr/>
          <p:nvPr/>
        </p:nvCxnSpPr>
        <p:spPr>
          <a:xfrm>
            <a:off x="5715000" y="2029968"/>
            <a:ext cx="548639" cy="0"/>
          </a:xfrm>
          <a:prstGeom prst="line">
            <a:avLst/>
          </a:prstGeom>
          <a:ln w="25400">
            <a:solidFill>
              <a:srgbClr val="0F766E"/>
            </a:solidFill>
            <a:headEnd type="triangle"/>
          </a:ln>
        </p:spPr>
      </p:cxnSp>
      <p:sp>
        <p:nvSpPr>
          <p:cNvPr id="52" name="box"/>
          <p:cNvSpPr/>
          <p:nvPr/>
        </p:nvSpPr>
        <p:spPr>
          <a:xfrm>
            <a:off x="6263640" y="1554480"/>
            <a:ext cx="224028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DifferentialController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left/right wheel velocity</a:t>
            </a:r>
            <a:endParaRPr lang="ko-KR" sz="1400"/>
          </a:p>
        </p:txBody>
      </p:sp>
      <p:cxnSp>
        <p:nvCxnSpPr>
          <p:cNvPr id="62" name="arr"/>
          <p:cNvCxnSpPr/>
          <p:nvPr/>
        </p:nvCxnSpPr>
        <p:spPr>
          <a:xfrm>
            <a:off x="8503920" y="2029968"/>
            <a:ext cx="548639" cy="0"/>
          </a:xfrm>
          <a:prstGeom prst="line">
            <a:avLst/>
          </a:prstGeom>
          <a:ln w="25400">
            <a:solidFill>
              <a:srgbClr val="0F766E"/>
            </a:solidFill>
            <a:headEnd type="triangle"/>
          </a:ln>
        </p:spPr>
      </p:cxnSp>
      <p:sp>
        <p:nvSpPr>
          <p:cNvPr id="53" name="box"/>
          <p:cNvSpPr/>
          <p:nvPr/>
        </p:nvSpPr>
        <p:spPr>
          <a:xfrm>
            <a:off x="9052559" y="1554480"/>
            <a:ext cx="224028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ArticulationController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4개 wheel joint 제어</a:t>
            </a:r>
            <a:endParaRPr lang="ko-KR" sz="1400"/>
          </a:p>
        </p:txBody>
      </p:sp>
      <p:sp>
        <p:nvSpPr>
          <p:cNvPr id="70" name="odom"/>
          <p:cNvSpPr/>
          <p:nvPr/>
        </p:nvSpPr>
        <p:spPr>
          <a:xfrm>
            <a:off x="1097280" y="3657600"/>
            <a:ext cx="297180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500" b="1">
                <a:solidFill>
                  <a:srgbClr val="1E3A8A"/>
                </a:solidFill>
              </a:rPr>
              <a:t>ComputeOdometry</a:t>
            </a:r>
            <a:endParaRPr lang="ko-KR" sz="1500"/>
          </a:p>
          <a:p>
            <a:pPr algn="ctr"/>
            <a:r>
              <a:rPr lang="ko-KR" sz="1500" b="1">
                <a:solidFill>
                  <a:srgbClr val="1E3A8A"/>
                </a:solidFill>
              </a:rPr>
              <a:t>/jackal_0/odom + /tf</a:t>
            </a:r>
            <a:endParaRPr lang="ko-KR" sz="1500"/>
          </a:p>
        </p:txBody>
      </p:sp>
      <p:sp>
        <p:nvSpPr>
          <p:cNvPr id="71" name="scan"/>
          <p:cNvSpPr/>
          <p:nvPr/>
        </p:nvSpPr>
        <p:spPr>
          <a:xfrm>
            <a:off x="4572000" y="3657600"/>
            <a:ext cx="297180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500" b="1">
                <a:solidFill>
                  <a:srgbClr val="78350F"/>
                </a:solidFill>
              </a:rPr>
              <a:t>IsaacReadLidarBeams</a:t>
            </a:r>
            <a:endParaRPr lang="ko-KR" sz="1500"/>
          </a:p>
          <a:p>
            <a:pPr algn="ctr"/>
            <a:r>
              <a:rPr lang="ko-KR" sz="1500" b="1">
                <a:solidFill>
                  <a:srgbClr val="78350F"/>
                </a:solidFill>
              </a:rPr>
              <a:t>/jackal_0/scan</a:t>
            </a:r>
            <a:endParaRPr lang="ko-KR" sz="1500"/>
          </a:p>
        </p:txBody>
      </p:sp>
      <p:sp>
        <p:nvSpPr>
          <p:cNvPr id="72" name="tf"/>
          <p:cNvSpPr/>
          <p:nvPr/>
        </p:nvSpPr>
        <p:spPr>
          <a:xfrm>
            <a:off x="8046720" y="3657600"/>
            <a:ext cx="297180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500" b="1">
                <a:solidFill>
                  <a:srgbClr val="0F172A"/>
                </a:solidFill>
              </a:rPr>
              <a:t>Laser static TF</a:t>
            </a:r>
            <a:endParaRPr lang="ko-KR" sz="1500"/>
          </a:p>
          <a:p>
            <a:pPr algn="ctr"/>
            <a:r>
              <a:rPr lang="ko-KR" sz="1500" b="1">
                <a:solidFill>
                  <a:srgbClr val="0F172A"/>
                </a:solidFill>
              </a:rPr>
              <a:t>base_link → laser</a:t>
            </a:r>
            <a:endParaRPr lang="ko-KR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TF와 위치 추정 구조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Jackal은 AMCL 없이 Spot SLAM 지도 좌표계에 정적 offset으로 붙습니다.</a:t>
            </a:r>
            <a:endParaRPr lang="ko-KR" sz="1300"/>
          </a:p>
        </p:txBody>
      </p:sp>
      <p:sp>
        <p:nvSpPr>
          <p:cNvPr id="80" name="map"/>
          <p:cNvSpPr/>
          <p:nvPr/>
        </p:nvSpPr>
        <p:spPr>
          <a:xfrm>
            <a:off x="822960" y="1828800"/>
            <a:ext cx="237744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700" b="1">
                <a:solidFill>
                  <a:srgbClr val="14532D"/>
                </a:solidFill>
              </a:rPr>
              <a:t>map</a:t>
            </a:r>
            <a:endParaRPr lang="ko-KR" sz="1700"/>
          </a:p>
          <a:p>
            <a:pPr algn="ctr"/>
            <a:r>
              <a:rPr lang="ko-KR" sz="1700" b="1">
                <a:solidFill>
                  <a:srgbClr val="14532D"/>
                </a:solidFill>
              </a:rPr>
              <a:t>Spot SLAM 기준</a:t>
            </a:r>
            <a:endParaRPr lang="ko-KR" sz="1700"/>
          </a:p>
        </p:txBody>
      </p:sp>
      <p:sp>
        <p:nvSpPr>
          <p:cNvPr id="81" name="odom"/>
          <p:cNvSpPr/>
          <p:nvPr/>
        </p:nvSpPr>
        <p:spPr>
          <a:xfrm>
            <a:off x="4754880" y="1828800"/>
            <a:ext cx="256032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700" b="1">
                <a:solidFill>
                  <a:srgbClr val="0C4A6E"/>
                </a:solidFill>
              </a:rPr>
              <a:t>jackal_0/odom</a:t>
            </a:r>
            <a:endParaRPr lang="ko-KR" sz="1700"/>
          </a:p>
          <a:p>
            <a:pPr algn="ctr"/>
            <a:r>
              <a:rPr lang="ko-KR" sz="1700" b="1">
                <a:solidFill>
                  <a:srgbClr val="0C4A6E"/>
                </a:solidFill>
              </a:rPr>
              <a:t>spawn offset +2.5m</a:t>
            </a:r>
            <a:endParaRPr lang="ko-KR" sz="1700"/>
          </a:p>
        </p:txBody>
      </p:sp>
      <p:sp>
        <p:nvSpPr>
          <p:cNvPr id="82" name="base"/>
          <p:cNvSpPr/>
          <p:nvPr/>
        </p:nvSpPr>
        <p:spPr>
          <a:xfrm>
            <a:off x="8869680" y="1828800"/>
            <a:ext cx="237744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700" b="1">
                <a:solidFill>
                  <a:srgbClr val="7F1D1D"/>
                </a:solidFill>
              </a:rPr>
              <a:t>jackal_0/base_link</a:t>
            </a:r>
            <a:endParaRPr lang="ko-KR" sz="1700"/>
          </a:p>
          <a:p>
            <a:pPr algn="ctr"/>
            <a:r>
              <a:rPr lang="ko-KR" sz="1700" b="1">
                <a:solidFill>
                  <a:srgbClr val="7F1D1D"/>
                </a:solidFill>
              </a:rPr>
              <a:t>Isaac odometry</a:t>
            </a:r>
            <a:endParaRPr lang="ko-KR" sz="1700"/>
          </a:p>
        </p:txBody>
      </p:sp>
      <p:cxnSp>
        <p:nvCxnSpPr>
          <p:cNvPr id="83" name="a"/>
          <p:cNvCxnSpPr/>
          <p:nvPr/>
        </p:nvCxnSpPr>
        <p:spPr>
          <a:xfrm>
            <a:off x="3200400" y="2286000"/>
            <a:ext cx="1554480" cy="0"/>
          </a:xfrm>
          <a:prstGeom prst="line">
            <a:avLst/>
          </a:prstGeom>
          <a:ln w="25400">
            <a:solidFill>
              <a:srgbClr val="16A34A"/>
            </a:solidFill>
            <a:headEnd type="triangle"/>
          </a:ln>
        </p:spPr>
      </p:cxnSp>
      <p:cxnSp>
        <p:nvCxnSpPr>
          <p:cNvPr id="84" name="b"/>
          <p:cNvCxnSpPr/>
          <p:nvPr/>
        </p:nvCxnSpPr>
        <p:spPr>
          <a:xfrm>
            <a:off x="7315200" y="2286000"/>
            <a:ext cx="1554479" cy="0"/>
          </a:xfrm>
          <a:prstGeom prst="line">
            <a:avLst/>
          </a:prstGeom>
          <a:ln w="25400">
            <a:solidFill>
              <a:srgbClr val="0284C7"/>
            </a:solidFill>
            <a:headEnd type="triangle"/>
          </a:ln>
        </p:spPr>
      </p:cxnSp>
      <p:sp>
        <p:nvSpPr>
          <p:cNvPr id="85" name="notes"/>
          <p:cNvSpPr txBox="1"/>
          <p:nvPr/>
        </p:nvSpPr>
        <p:spPr>
          <a:xfrm>
            <a:off x="1005840" y="3749039"/>
            <a:ext cx="1024128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800" b="0">
                <a:solidFill>
                  <a:srgbClr val="334155"/>
                </a:solidFill>
              </a:rPr>
              <a:t>정적 TF: map → jackal_0/odom = (2.5, 0, 0).</a:t>
            </a:r>
            <a:endParaRPr lang="ko-KR" sz="1800"/>
          </a:p>
          <a:p>
            <a:pPr algn="ctr"/>
            <a:r>
              <a:rPr lang="ko-KR" sz="1800" b="0">
                <a:solidFill>
                  <a:srgbClr val="334155"/>
                </a:solidFill>
              </a:rPr>
              <a:t>실제 이동은 Isaac ComputeOdometry가 jackal_0/odom → jackal_0/base_link로 publish합니다.</a:t>
            </a:r>
            <a:endParaRPr lang="ko-KR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Jackal Nav2 노드 아키텍처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모든 Nav2 노드는 /jackal_0 네임스페이스 안에서 독립 실행됩니다.</a:t>
            </a:r>
            <a:endParaRPr lang="ko-KR" sz="1300"/>
          </a:p>
        </p:txBody>
      </p:sp>
      <p:sp>
        <p:nvSpPr>
          <p:cNvPr id="90" name="nav"/>
          <p:cNvSpPr/>
          <p:nvPr/>
        </p:nvSpPr>
        <p:spPr>
          <a:xfrm>
            <a:off x="731520" y="137160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bt_navigator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/jackal_0/navigate_to_pose</a:t>
            </a:r>
            <a:endParaRPr lang="ko-KR" sz="1400"/>
          </a:p>
        </p:txBody>
      </p:sp>
      <p:sp>
        <p:nvSpPr>
          <p:cNvPr id="91" name="nav"/>
          <p:cNvSpPr/>
          <p:nvPr/>
        </p:nvSpPr>
        <p:spPr>
          <a:xfrm>
            <a:off x="3657600" y="137160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planner_server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/map static layer</a:t>
            </a:r>
            <a:endParaRPr lang="ko-KR" sz="1400"/>
          </a:p>
        </p:txBody>
      </p:sp>
      <p:sp>
        <p:nvSpPr>
          <p:cNvPr id="92" name="nav"/>
          <p:cNvSpPr/>
          <p:nvPr/>
        </p:nvSpPr>
        <p:spPr>
          <a:xfrm>
            <a:off x="6583680" y="137160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controller_server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MPPI DiffDrive</a:t>
            </a:r>
            <a:endParaRPr lang="ko-KR" sz="1400"/>
          </a:p>
        </p:txBody>
      </p:sp>
      <p:sp>
        <p:nvSpPr>
          <p:cNvPr id="93" name="nav"/>
          <p:cNvSpPr/>
          <p:nvPr/>
        </p:nvSpPr>
        <p:spPr>
          <a:xfrm>
            <a:off x="6583680" y="310896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velocity_smoother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cmd_vel_nav_smoothed</a:t>
            </a:r>
            <a:endParaRPr lang="ko-KR" sz="1400"/>
          </a:p>
        </p:txBody>
      </p:sp>
      <p:sp>
        <p:nvSpPr>
          <p:cNvPr id="94" name="nav"/>
          <p:cNvSpPr/>
          <p:nvPr/>
        </p:nvSpPr>
        <p:spPr>
          <a:xfrm>
            <a:off x="3657600" y="310896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cmd_vel_relay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mode gate → /jackal_0/cmd_vel</a:t>
            </a:r>
            <a:endParaRPr lang="ko-KR" sz="1400"/>
          </a:p>
        </p:txBody>
      </p:sp>
      <p:sp>
        <p:nvSpPr>
          <p:cNvPr id="95" name="nav"/>
          <p:cNvSpPr/>
          <p:nvPr/>
        </p:nvSpPr>
        <p:spPr>
          <a:xfrm>
            <a:off x="731520" y="3108960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0F172A"/>
                </a:solidFill>
              </a:rPr>
              <a:t>lifecycle_manager</a:t>
            </a:r>
            <a:endParaRPr lang="ko-KR" sz="1400"/>
          </a:p>
          <a:p>
            <a:pPr algn="ctr"/>
            <a:r>
              <a:rPr lang="ko-KR" sz="1400" b="1">
                <a:solidFill>
                  <a:srgbClr val="0F172A"/>
                </a:solidFill>
              </a:rPr>
              <a:t>Nav2 activation</a:t>
            </a:r>
            <a:endParaRPr lang="ko-KR" sz="1400"/>
          </a:p>
        </p:txBody>
      </p:sp>
      <p:cxnSp>
        <p:nvCxnSpPr>
          <p:cNvPr id="119" name="link"/>
          <p:cNvCxnSpPr/>
          <p:nvPr/>
        </p:nvCxnSpPr>
        <p:spPr>
          <a:xfrm>
            <a:off x="3154680" y="1828800"/>
            <a:ext cx="502919" cy="0"/>
          </a:xfrm>
          <a:prstGeom prst="line">
            <a:avLst/>
          </a:prstGeom>
          <a:ln w="20320">
            <a:solidFill>
              <a:srgbClr val="64748B"/>
            </a:solidFill>
            <a:headEnd type="triangle"/>
          </a:ln>
        </p:spPr>
      </p:cxnSp>
      <p:cxnSp>
        <p:nvCxnSpPr>
          <p:cNvPr id="120" name="link"/>
          <p:cNvCxnSpPr/>
          <p:nvPr/>
        </p:nvCxnSpPr>
        <p:spPr>
          <a:xfrm>
            <a:off x="6080760" y="1828800"/>
            <a:ext cx="502919" cy="0"/>
          </a:xfrm>
          <a:prstGeom prst="line">
            <a:avLst/>
          </a:prstGeom>
          <a:ln w="20320">
            <a:solidFill>
              <a:srgbClr val="64748B"/>
            </a:solidFill>
            <a:headEnd type="triangle"/>
          </a:ln>
        </p:spPr>
      </p:cxnSp>
      <p:cxnSp>
        <p:nvCxnSpPr>
          <p:cNvPr id="121" name="link"/>
          <p:cNvCxnSpPr/>
          <p:nvPr/>
        </p:nvCxnSpPr>
        <p:spPr>
          <a:xfrm>
            <a:off x="9006840" y="1828800"/>
            <a:ext cx="-2423159" cy="1737360"/>
          </a:xfrm>
          <a:prstGeom prst="line">
            <a:avLst/>
          </a:prstGeom>
          <a:ln w="20320">
            <a:solidFill>
              <a:srgbClr val="64748B"/>
            </a:solidFill>
            <a:headEnd type="triangle"/>
          </a:ln>
        </p:spPr>
      </p:cxnSp>
      <p:cxnSp>
        <p:nvCxnSpPr>
          <p:cNvPr id="122" name="link"/>
          <p:cNvCxnSpPr/>
          <p:nvPr/>
        </p:nvCxnSpPr>
        <p:spPr>
          <a:xfrm>
            <a:off x="9006840" y="3566160"/>
            <a:ext cx="-5349240" cy="0"/>
          </a:xfrm>
          <a:prstGeom prst="line">
            <a:avLst/>
          </a:prstGeom>
          <a:ln w="20320">
            <a:solidFill>
              <a:srgbClr val="64748B"/>
            </a:solidFill>
            <a:headEnd type="triangle"/>
          </a:ln>
        </p:spPr>
      </p:cxnSp>
      <p:cxnSp>
        <p:nvCxnSpPr>
          <p:cNvPr id="123" name="link"/>
          <p:cNvCxnSpPr/>
          <p:nvPr/>
        </p:nvCxnSpPr>
        <p:spPr>
          <a:xfrm>
            <a:off x="6080760" y="3566160"/>
            <a:ext cx="-5349240" cy="0"/>
          </a:xfrm>
          <a:prstGeom prst="line">
            <a:avLst/>
          </a:prstGeom>
          <a:ln w="20320">
            <a:solidFill>
              <a:srgbClr val="64748B"/>
            </a:solidFill>
            <a:headEnd type="triangle"/>
          </a:ln>
        </p:spPr>
      </p:cxnSp>
      <p:sp>
        <p:nvSpPr>
          <p:cNvPr id="120" name="costmap"/>
          <p:cNvSpPr/>
          <p:nvPr/>
        </p:nvSpPr>
        <p:spPr>
          <a:xfrm>
            <a:off x="9418320" y="2240280"/>
            <a:ext cx="201168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300" b="1">
                <a:solidFill>
                  <a:srgbClr val="064E3B"/>
                </a:solidFill>
              </a:rPr>
              <a:t>local costmap</a:t>
            </a:r>
            <a:endParaRPr lang="ko-KR" sz="1300"/>
          </a:p>
          <a:p>
            <a:pPr algn="ctr"/>
            <a:r>
              <a:rPr lang="ko-KR" sz="1300" b="1">
                <a:solidFill>
                  <a:srgbClr val="064E3B"/>
                </a:solidFill>
              </a:rPr>
              <a:t>/jackal_0/scan_nav</a:t>
            </a:r>
            <a:endParaRPr lang="ko-KR" sz="1300"/>
          </a:p>
          <a:p>
            <a:pPr algn="ctr"/>
            <a:r>
              <a:rPr lang="ko-KR" sz="1300" b="1">
                <a:solidFill>
                  <a:srgbClr val="064E3B"/>
                </a:solidFill>
              </a:rPr>
              <a:t>+ global /map</a:t>
            </a:r>
            <a:endParaRPr lang="ko-KR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Spot 탐색·인지와 Jackal 구조 미션 연동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Spot은 탐색/인지, Jackal은 구조 이동 역할로 분리됩니다.</a:t>
            </a:r>
            <a:endParaRPr lang="ko-KR" sz="1300"/>
          </a:p>
        </p:txBody>
      </p:sp>
      <p:sp>
        <p:nvSpPr>
          <p:cNvPr id="130" name="spot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00" b="1">
                <a:solidFill>
                  <a:srgbClr val="1E3A8A"/>
                </a:solidFill>
              </a:rPr>
              <a:t>Spot stack</a:t>
            </a:r>
            <a:endParaRPr lang="ko-KR" sz="1600"/>
          </a:p>
          <a:p>
            <a:pPr algn="ctr"/>
            <a:r>
              <a:rPr lang="ko-KR" sz="1600" b="1">
                <a:solidFill>
                  <a:srgbClr val="1E3A8A"/>
                </a:solidFill>
              </a:rPr>
              <a:t>SLAM + coverage + YOLO</a:t>
            </a:r>
            <a:endParaRPr lang="ko-KR" sz="1600"/>
          </a:p>
        </p:txBody>
      </p:sp>
      <p:sp>
        <p:nvSpPr>
          <p:cNvPr id="131" name="map"/>
          <p:cNvSpPr/>
          <p:nvPr/>
        </p:nvSpPr>
        <p:spPr>
          <a:xfrm>
            <a:off x="4800600" y="914400"/>
            <a:ext cx="228600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800" b="1">
                <a:solidFill>
                  <a:srgbClr val="14532D"/>
                </a:solidFill>
              </a:rPr>
              <a:t>/map</a:t>
            </a:r>
            <a:endParaRPr lang="ko-KR" sz="1800"/>
          </a:p>
        </p:txBody>
      </p:sp>
      <p:sp>
        <p:nvSpPr>
          <p:cNvPr id="132" name="pose"/>
          <p:cNvSpPr/>
          <p:nvPr/>
        </p:nvSpPr>
        <p:spPr>
          <a:xfrm>
            <a:off x="4800600" y="2011680"/>
            <a:ext cx="22860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400" b="1">
                <a:solidFill>
                  <a:srgbClr val="78350F"/>
                </a:solidFill>
              </a:rPr>
              <a:t>/detected_survivor_pose</a:t>
            </a:r>
            <a:endParaRPr lang="ko-KR" sz="1400"/>
          </a:p>
        </p:txBody>
      </p:sp>
      <p:sp>
        <p:nvSpPr>
          <p:cNvPr id="133" name="jackal"/>
          <p:cNvSpPr/>
          <p:nvPr/>
        </p:nvSpPr>
        <p:spPr>
          <a:xfrm>
            <a:off x="8686800" y="1463040"/>
            <a:ext cx="2468880" cy="10058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600" b="1">
                <a:solidFill>
                  <a:srgbClr val="7F1D1D"/>
                </a:solidFill>
              </a:rPr>
              <a:t>Jackal stack</a:t>
            </a:r>
            <a:endParaRPr lang="ko-KR" sz="1600"/>
          </a:p>
          <a:p>
            <a:pPr algn="ctr"/>
            <a:r>
              <a:rPr lang="ko-KR" sz="1600" b="1">
                <a:solidFill>
                  <a:srgbClr val="7F1D1D"/>
                </a:solidFill>
              </a:rPr>
              <a:t>Nav2 + mission_manager</a:t>
            </a:r>
            <a:endParaRPr lang="ko-KR" sz="1600"/>
          </a:p>
        </p:txBody>
      </p:sp>
      <p:cxnSp>
        <p:nvCxnSpPr>
          <p:cNvPr id="134" name="m1"/>
          <p:cNvCxnSpPr/>
          <p:nvPr/>
        </p:nvCxnSpPr>
        <p:spPr>
          <a:xfrm>
            <a:off x="3200400" y="1828800"/>
            <a:ext cx="1600200" cy="-530352"/>
          </a:xfrm>
          <a:prstGeom prst="line">
            <a:avLst/>
          </a:prstGeom>
          <a:ln w="25400">
            <a:solidFill>
              <a:srgbClr val="16A34A"/>
            </a:solidFill>
            <a:headEnd type="triangle"/>
          </a:ln>
        </p:spPr>
      </p:cxnSp>
      <p:cxnSp>
        <p:nvCxnSpPr>
          <p:cNvPr id="135" name="m2"/>
          <p:cNvCxnSpPr/>
          <p:nvPr/>
        </p:nvCxnSpPr>
        <p:spPr>
          <a:xfrm>
            <a:off x="3200400" y="1828800"/>
            <a:ext cx="1600200" cy="566928"/>
          </a:xfrm>
          <a:prstGeom prst="line">
            <a:avLst/>
          </a:prstGeom>
          <a:ln w="25400">
            <a:solidFill>
              <a:srgbClr val="F59E0B"/>
            </a:solidFill>
            <a:headEnd type="triangle"/>
          </a:ln>
        </p:spPr>
      </p:cxnSp>
      <p:cxnSp>
        <p:nvCxnSpPr>
          <p:cNvPr id="136" name="m3"/>
          <p:cNvCxnSpPr/>
          <p:nvPr/>
        </p:nvCxnSpPr>
        <p:spPr>
          <a:xfrm>
            <a:off x="7086600" y="1298448"/>
            <a:ext cx="1600200" cy="530352"/>
          </a:xfrm>
          <a:prstGeom prst="line">
            <a:avLst/>
          </a:prstGeom>
          <a:ln w="25400">
            <a:solidFill>
              <a:srgbClr val="16A34A"/>
            </a:solidFill>
            <a:headEnd type="triangle"/>
          </a:ln>
        </p:spPr>
      </p:cxnSp>
      <p:cxnSp>
        <p:nvCxnSpPr>
          <p:cNvPr id="137" name="m4"/>
          <p:cNvCxnSpPr/>
          <p:nvPr/>
        </p:nvCxnSpPr>
        <p:spPr>
          <a:xfrm>
            <a:off x="7086600" y="2395728"/>
            <a:ext cx="1600200" cy="-566928"/>
          </a:xfrm>
          <a:prstGeom prst="line">
            <a:avLst/>
          </a:prstGeom>
          <a:ln w="25400">
            <a:solidFill>
              <a:srgbClr val="F59E0B"/>
            </a:solidFill>
            <a:headEnd type="triangle"/>
          </a:ln>
        </p:spPr>
      </p:cxnSp>
      <p:sp>
        <p:nvSpPr>
          <p:cNvPr id="138" name="detail"/>
          <p:cNvSpPr txBox="1"/>
          <p:nvPr/>
        </p:nvSpPr>
        <p:spPr>
          <a:xfrm>
            <a:off x="914400" y="3977639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700" b="0">
                <a:solidFill>
                  <a:srgbClr val="334155"/>
                </a:solidFill>
              </a:rPr>
              <a:t>scan_sanitizer가 서로의 body frame을 마스킹해 SLAM/scan costmap 오염을 줄입니다.</a:t>
            </a:r>
            <a:endParaRPr lang="ko-KR" sz="1700"/>
          </a:p>
          <a:p>
            <a:pPr algn="ctr"/>
            <a:r>
              <a:rPr lang="ko-KR" sz="1700" b="0">
                <a:solidFill>
                  <a:srgbClr val="334155"/>
                </a:solidFill>
              </a:rPr>
              <a:t>mission_manager는 생존자 좌표, 수동 목표, home/ resume 이벤트를 NavigateToPose action으로 dispatch합니다.</a:t>
            </a:r>
            <a:endParaRPr lang="ko-KR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502920" y="3840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2800" b="1">
                <a:solidFill>
                  <a:srgbClr val="0F172A"/>
                </a:solidFill>
              </a:rPr>
              <a:t>핵심 토픽·프레임 요약</a:t>
            </a:r>
            <a:endParaRPr lang="ko-KR" sz="2800"/>
          </a:p>
        </p:txBody>
      </p:sp>
      <p:sp>
        <p:nvSpPr>
          <p:cNvPr id="4" name="subtitle"/>
          <p:cNvSpPr txBox="1"/>
          <p:nvPr/>
        </p:nvSpPr>
        <p:spPr>
          <a:xfrm>
            <a:off x="521207" y="8961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64748B"/>
                </a:solidFill>
              </a:rPr>
              <a:t>발표 시 노드 연결을 설명하기 좋은 체크리스트입니다.</a:t>
            </a:r>
            <a:endParaRPr lang="ko-KR" sz="1300"/>
          </a:p>
        </p:txBody>
      </p:sp>
      <p:sp>
        <p:nvSpPr>
          <p:cNvPr id="140" name="bullets"/>
          <p:cNvSpPr txBox="1"/>
          <p:nvPr/>
        </p:nvSpPr>
        <p:spPr>
          <a:xfrm>
            <a:off x="685800" y="1143000"/>
            <a:ext cx="356616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0284C7"/>
                </a:solidFill>
              </a:rPr>
              <a:t>입력/센서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/jackal_0/scan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/jackal_0/scan_nav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/jackal_0/odom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/tf, /tf_static</a:t>
            </a:r>
          </a:p>
        </p:txBody>
      </p:sp>
      <p:sp>
        <p:nvSpPr>
          <p:cNvPr id="141" name="bullets"/>
          <p:cNvSpPr txBox="1"/>
          <p:nvPr/>
        </p:nvSpPr>
        <p:spPr>
          <a:xfrm>
            <a:off x="4343400" y="1143000"/>
            <a:ext cx="356616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16A34A"/>
                </a:solidFill>
              </a:rPr>
              <a:t>계획/미션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/map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/detected_survivor_pose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/jackal_0/manual_goal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/jackal_0/navigate_to_pose</a:t>
            </a:r>
          </a:p>
        </p:txBody>
      </p:sp>
      <p:sp>
        <p:nvSpPr>
          <p:cNvPr id="142" name="bullets"/>
          <p:cNvSpPr txBox="1"/>
          <p:nvPr/>
        </p:nvSpPr>
        <p:spPr>
          <a:xfrm>
            <a:off x="8001000" y="1143000"/>
            <a:ext cx="3566160" cy="4480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sz="2200" b="1">
                <a:solidFill>
                  <a:srgbClr val="DC2626"/>
                </a:solidFill>
              </a:rPr>
              <a:t>구동/제어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/jackal_0/cmd_vel_nav_smoothed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/jackal_0/control_mode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/jackal_0/teleop_cmd_vel</a:t>
            </a:r>
          </a:p>
          <a:p>
            <a:pPr marL="285750" indent="-171450">
              <a:buChar char="•"/>
            </a:pPr>
            <a:r>
              <a:rPr lang="ko-KR" sz="1500">
                <a:solidFill>
                  <a:srgbClr val="334155"/>
                </a:solidFill>
              </a:rPr>
              <a:t>/jackal_0/cmd_vel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bot">
  <a:themeElements>
    <a:clrScheme name="Cobot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F766E"/>
      </a:accent6>
      <a:hlink>
        <a:srgbClr val="2563EB"/>
      </a:hlink>
      <a:folHlink>
        <a:srgbClr val="7C3AED"/>
      </a:folHlink>
    </a:clrScheme>
    <a:fontScheme name="Cobot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Cobo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